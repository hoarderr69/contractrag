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Contract360 is an AI assistant for our energy &amp; infrastructure contracts (EPC, O&amp;M, PPA). It is built end-to-end on Azure. Today: the problem we set out to solve, the solution and how it works, the architecture, and a live demo. Headline: every answer is grounded in the actual contract text and cites its source — built for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our key contracts are long, dense and high-stakes, and reviewing them is slow and manual. Generic AI tools hallucinate and don't cite sources, so they can't be trusted for legal decisions. Solution: Contract360 lets you upload a contract and ask questions in plain English; every answer is grounded in the real clause text and cites title, page and source. Value: faster review and due diligence, audit-ready answers, and portfolio-wide visibility of obligations and deadlines. It's built entirely on our Azure stack — no new vendor footprint.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whole platform in one picture. Two simple phases. ONBOARD, once per contract: you upload a PDF, and the system reads it, splits it into clauses, and makes it searchable. ASK, anytime: you ask a question in plain English, the AI finds the right clauses, and returns a clear answer with every point linked back to its source clause. The whole thing runs on Azure services we already operate — so the data never leaves our tenant. The detailed engineering view is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view. Frontend talks to a FastAPI backend. Reads go through the query pipeline: the LLM router rewrites the question, resolves scope, and chooses a retrieval route; results feed the AnswerGenerator. Writes go through the ingestion pipeline: an async worker pool parses, builds the tree, chunks, embeds and indexes each file with live status. An offline knowledge-graph pipeline adds parties, obligations and rights to Cosmos Gremlin for relationship questions. All of it runs on Azure-managed services, and the optional pieces are env-toggle. Full interactive diagram lives in ARCHITECTURE.md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plan: upload a contract live and show the ingestion progress, then ask a payment-obligations question and show the streamed, cited answer — click a citation to prove it's grounded. Then contrast a relationship question (graph route) with a simple lookup (tree route), and show multi-contract scope. Always click into at least one citation — that's the trust moment. Backup: a recorded video is ready if the live environment misbehaves (remember to insert the link before the meeting). Close on roadmap: content-aware scoping, reasoning-based retrieval, portfolio analytics, and Entra ID auth.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097280" y="5212080"/>
            <a:ext cx="6858000" cy="2377440"/>
          </a:xfrm>
          <a:prstGeom prst="parallelogram">
            <a:avLst>
              <a:gd name="adj" fmla="val 55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840480" y="5943600"/>
            <a:ext cx="6400800" cy="2011680"/>
          </a:xfrm>
          <a:prstGeom prst="parallelogram">
            <a:avLst>
              <a:gd name="adj" fmla="val 55000"/>
            </a:avLst>
          </a:prstGeom>
          <a:solidFill>
            <a:srgbClr val="3A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548640" y="708659"/>
            <a:ext cx="822959" cy="160020"/>
          </a:xfrm>
          <a:prstGeom prst="parallelogram">
            <a:avLst>
              <a:gd name="adj" fmla="val 60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E600"/>
                </a:solidFill>
                <a:latin typeface="Arial"/>
              </a:rPr>
              <a:t>CONTRACT INTELLIGENCE  ·  AI / RAG  ·  AZURE-NATIVE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Contract360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2F2F5"/>
                </a:solidFill>
                <a:latin typeface="Arial"/>
              </a:rPr>
              <a:t>A retrieval-augmented assistant that answers natural-language questions over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2F2F5"/>
                </a:solidFill>
                <a:latin typeface="Arial"/>
              </a:rPr>
              <a:t>energy &amp; infrastructure contracts — with grounded, citation-backed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Presented to Senior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E600"/>
                </a:solidFill>
                <a:latin typeface="Arial"/>
              </a:rPr>
              <a:t>SLIDE 1 —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Problem, Solution &amp; Where It Creates Value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11201400" y="414223"/>
            <a:ext cx="559612" cy="108813"/>
          </a:xfrm>
          <a:prstGeom prst="parallelogram">
            <a:avLst>
              <a:gd name="adj" fmla="val 60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747480"/>
                </a:solidFill>
                <a:latin typeface="Arial"/>
              </a:rPr>
              <a:t>Contract360  |  Confidential — for internal management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747480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41264" cy="2212848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221284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1545336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1929384"/>
            <a:ext cx="5175504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Long &amp; high-stakes.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EPC, O&amp;M and PPA contracts run to hundreds of pages of dense legal text.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Slow, manual review.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Finding obligations, deadlines, payment terms, termination &amp; indemnity clauses is hours of work.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Generic AI can't be trusted.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Off-the-shelf chatbots hallucinate and give no citations — not auditable for legal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8504" y="1417320"/>
            <a:ext cx="5541264" cy="2212848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8504" y="1417320"/>
            <a:ext cx="82296" cy="221284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45336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The solution — Contract360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29384"/>
            <a:ext cx="5175504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Ask in plain English.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Upload a contract; query it conversationally — single contract or a portfolio.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Grounded &amp; cited.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Every answer is drawn from actual clause text and cites title, page range &amp; source.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Contract-aware.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Clause-aware chunking, a hierarchical contract tree and a legal knowledge graph for relationship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04488"/>
            <a:ext cx="5541264" cy="2212848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04488"/>
            <a:ext cx="82296" cy="221284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032504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Business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416552"/>
            <a:ext cx="5175504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Faster review &amp; due diligence.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Cut manual contract-reading time across legal, commercial &amp; deal teams.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Audit-ready answers.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Citation trail supports compliance and risk decisions.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Portfolio insight.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Surface obligations, rights &amp; deadlines across many contracts at once.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8504" y="3904488"/>
            <a:ext cx="5541264" cy="2212848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8504" y="3904488"/>
            <a:ext cx="82296" cy="221284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032504"/>
            <a:ext cx="5175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Technology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44531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747480"/>
                </a:solidFill>
                <a:latin typeface="Arial"/>
              </a:rPr>
              <a:t>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4434840"/>
            <a:ext cx="735177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3529" y="443484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React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00185" y="4434840"/>
            <a:ext cx="482803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Vite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92716" y="4434840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Tailwind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48554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747480"/>
                </a:solidFill>
                <a:latin typeface="Arial"/>
              </a:rPr>
              <a:t>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8624" y="4837176"/>
            <a:ext cx="1828799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Azure OpenAI (GPT-4)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17151" y="4837176"/>
            <a:ext cx="1492300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text-embedding-3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5257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747480"/>
                </a:solidFill>
                <a:latin typeface="Arial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78624" y="5239512"/>
            <a:ext cx="903427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AI 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91779" y="5239512"/>
            <a:ext cx="1155801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Cosmos NoSQL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7308" y="5239512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Cosmos Gremlin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91087" y="5239512"/>
            <a:ext cx="482803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Blob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4536" y="5660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747480"/>
                </a:solidFill>
                <a:latin typeface="Arial"/>
              </a:rPr>
              <a:t>RUN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78624" y="5641848"/>
            <a:ext cx="1828799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Azure Container Apps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17151" y="5641848"/>
            <a:ext cx="398678" cy="3108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00" b="1">
                <a:solidFill>
                  <a:srgbClr val="FFE600"/>
                </a:solidFill>
                <a:latin typeface="Arial"/>
              </a:rPr>
              <a:t>ACR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943600" cy="65836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E2E38"/>
                </a:solidFill>
                <a:latin typeface="Arial"/>
              </a:rPr>
              <a:t>How the Platform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155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E600"/>
                </a:solidFill>
                <a:latin typeface="Arial"/>
              </a:rPr>
              <a:t>HOW IT WORKS  ·  CONTRACT360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11201400" y="551383"/>
            <a:ext cx="559612" cy="108813"/>
          </a:xfrm>
          <a:prstGeom prst="parallelogram">
            <a:avLst>
              <a:gd name="adj" fmla="val 60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293" y="1481328"/>
            <a:ext cx="5756365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532120"/>
            <a:ext cx="64008" cy="7132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53212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E600"/>
                </a:solidFill>
                <a:latin typeface="Arial"/>
              </a:rPr>
              <a:t>PLAIN-LANGUAGE ACCESS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FCFDA"/>
                </a:solidFill>
                <a:latin typeface="Arial"/>
              </a:rPr>
              <a:t>Anyone can interrogate a contract — no legal training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5532120"/>
            <a:ext cx="64008" cy="7132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553212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E600"/>
                </a:solidFill>
                <a:latin typeface="Arial"/>
              </a:rPr>
              <a:t>GROUNDED &amp; AUDITABLE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FCFDA"/>
                </a:solidFill>
                <a:latin typeface="Arial"/>
              </a:rPr>
              <a:t>Every answer cites the exact source clause it came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2168" y="5532120"/>
            <a:ext cx="64008" cy="7132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553212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E600"/>
                </a:solidFill>
                <a:latin typeface="Arial"/>
              </a:rPr>
              <a:t>AZURE-NATIVE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FCFDA"/>
                </a:solidFill>
                <a:latin typeface="Arial"/>
              </a:rPr>
              <a:t>Runs in our own cloud tenant — your data stays with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9AA6"/>
                </a:solidFill>
                <a:latin typeface="Arial"/>
              </a:rPr>
              <a:t>Contract360  |  Confidential — for internal management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A9AA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E600"/>
                </a:solidFill>
                <a:latin typeface="Arial"/>
              </a:rPr>
              <a:t>SLIDE 2 —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Detailed Architecture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11201400" y="414223"/>
            <a:ext cx="559612" cy="108813"/>
          </a:xfrm>
          <a:prstGeom prst="parallelogram">
            <a:avLst>
              <a:gd name="adj" fmla="val 60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747480"/>
                </a:solidFill>
                <a:latin typeface="Arial"/>
              </a:rPr>
              <a:t>Contract360  |  Confidential — for internal management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747480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detail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93" y="1280160"/>
            <a:ext cx="2927694" cy="5074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4173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FIVE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10512"/>
            <a:ext cx="64008" cy="5669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7830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Frontend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React + TypeScript SPA — chat, sidebar, upload.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8880"/>
            <a:ext cx="64008" cy="5669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4144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FastAPI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Sessions, ask (sync/stream), async ingest.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27248"/>
            <a:ext cx="64008" cy="5669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099816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Query pipeline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LLM router → search / graph / hybrid / tree → AnswerGenerator.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85616"/>
            <a:ext cx="64008" cy="5669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758184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Ingestion pipeline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Worker pool: read → tree → chunk → embed → index.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43984"/>
            <a:ext cx="64008" cy="5669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41655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Knowledge graph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Offline: parties, obligations, rights → Gremlin.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102352"/>
            <a:ext cx="64008" cy="5669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0749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Azure services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Blob · AI Search · Cosmos NoSQL · Gremlin · OpenAI.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14173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DESIGN HIGHLIGHTS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1810512"/>
            <a:ext cx="64008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178308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Async ingestion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Upload returns immediately (202); a thread pool processes files with live progress.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596896"/>
            <a:ext cx="64008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2569464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Pluggable parsing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Azure Document Intelligence with a pypdf fallback.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3383280"/>
            <a:ext cx="64008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5672" y="335584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Cited answers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Sources carried end-to-end into every response.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4169664"/>
            <a:ext cx="64008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4142232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Scales 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Container Apps; Service Bus path for multi-instance.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4956048"/>
            <a:ext cx="64008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05672" y="4928616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E2E38"/>
                </a:solidFill>
                <a:latin typeface="Arial"/>
              </a:rPr>
              <a:t>Config-driven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747480"/>
                </a:solidFill>
                <a:latin typeface="Arial"/>
              </a:rPr>
              <a:t>Graph &amp; Doc-Intelligence toggle on/off via env.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E600"/>
                </a:solidFill>
                <a:latin typeface="Arial"/>
              </a:rPr>
              <a:t>SLIDE 3 —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See It In Action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11201400" y="414223"/>
            <a:ext cx="559612" cy="108813"/>
          </a:xfrm>
          <a:prstGeom prst="parallelogram">
            <a:avLst>
              <a:gd name="adj" fmla="val 60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747480"/>
                </a:solidFill>
                <a:latin typeface="Arial"/>
              </a:rPr>
              <a:t>Contract360  |  Confidential — for internal management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747480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77840" cy="278892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82296" cy="27889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1591056"/>
            <a:ext cx="5193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Live demo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2120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1. Upload a contract.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Drag-drop a PDF; watch parse → embed → index progress live.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2. Ask a question.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“What are the contractor's payment obligations?”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3. Read a grounded answer.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Response streams in with inline clause citations.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4. Show the routing.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A relationship question (graph) vs. a lookup (tree).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50" b="1" i="0">
                <a:solidFill>
                  <a:srgbClr val="2E2E38"/>
                </a:solidFill>
                <a:latin typeface="Arial"/>
              </a:rPr>
              <a:t>5. Multi-contract scope.  </a:t>
            </a:r>
            <a:r>
              <a:rPr sz="1150" b="0" i="0">
                <a:solidFill>
                  <a:srgbClr val="2E2E38"/>
                </a:solidFill>
                <a:latin typeface="Arial"/>
              </a:rPr>
              <a:t>Filter to one contract or query across several.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34840"/>
            <a:ext cx="5577840" cy="214884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82296" cy="214884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4562856"/>
            <a:ext cx="5193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Sample questions to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946904"/>
            <a:ext cx="52120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“Summarise the termination clauses and any notice periods.”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“What deadlines does the contractor have in the first 90 days?”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“Which party bears liability for delay, and is there a cap?”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“List the indemnities granted to the owner.”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463040"/>
            <a:ext cx="5349240" cy="137160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463040"/>
            <a:ext cx="82296" cy="13716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62763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E600"/>
                </a:solidFill>
                <a:latin typeface="Arial"/>
              </a:rPr>
              <a:t>⚑  Backup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029968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A pre-recorded demo video is ready in case of live connectivity 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environment issues. </a:t>
            </a:r>
            <a:r>
              <a:rPr sz="1100" b="0" i="1">
                <a:solidFill>
                  <a:srgbClr val="FFE600"/>
                </a:solidFill>
                <a:latin typeface="Arial"/>
              </a:rPr>
              <a:t>[ insert link / embed before the meeting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035808"/>
            <a:ext cx="5349240" cy="146304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035808"/>
            <a:ext cx="82296" cy="14630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3163824"/>
            <a:ext cx="4965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What to watch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547872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1" i="0">
                <a:solidFill>
                  <a:srgbClr val="2E2E38"/>
                </a:solidFill>
                <a:latin typeface="Arial"/>
              </a:rPr>
              <a:t>Speed. 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Answer in seconds; ingestion runs in the background.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1" i="0">
                <a:solidFill>
                  <a:srgbClr val="2E2E38"/>
                </a:solidFill>
                <a:latin typeface="Arial"/>
              </a:rPr>
              <a:t>Trust. 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Each claim links to a clause — open it to verify.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1" i="0">
                <a:solidFill>
                  <a:srgbClr val="2E2E38"/>
                </a:solidFill>
                <a:latin typeface="Arial"/>
              </a:rPr>
              <a:t>Range. 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Same assistant handles lookup, summary &amp; relationship questions.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526280"/>
            <a:ext cx="5349240" cy="17830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526280"/>
            <a:ext cx="82296" cy="178308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2824" y="4654296"/>
            <a:ext cx="4965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38"/>
                </a:solidFill>
                <a:latin typeface="Arial"/>
              </a:rPr>
              <a:t>Roadmap (post-MVP)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2824" y="5038344"/>
            <a:ext cx="4983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Content-aware scoping by party / contract.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Reasoning-based navigation of the contract tree.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Knowledge-graph portfolio analytics across contracts.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747480"/>
                </a:solidFill>
                <a:latin typeface="Arial"/>
              </a:rPr>
              <a:t>• </a:t>
            </a:r>
            <a:r>
              <a:rPr sz="1100" b="0" i="0">
                <a:solidFill>
                  <a:srgbClr val="2E2E38"/>
                </a:solidFill>
                <a:latin typeface="Arial"/>
              </a:rPr>
              <a:t>Azure Entra ID authentication for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